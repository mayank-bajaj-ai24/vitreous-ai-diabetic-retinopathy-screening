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0a6860540d47a0" /><Relationship Type="http://schemas.openxmlformats.org/officeDocument/2006/relationships/extended-properties" Target="/docProps/app.xml" Id="R99e69b8d32a24634" /><Relationship Type="http://schemas.openxmlformats.org/officeDocument/2006/relationships/officeDocument" Target="/ppt/presentation.xml" Id="Rfdc7e5b8108247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3158066c8544a1"/>
  </p:sldMasterIdLst>
  <p:notesMasterIdLst>
    <p:notesMasterId xmlns:r="http://schemas.openxmlformats.org/officeDocument/2006/relationships" r:id="R12340c109a474197"/>
  </p:notesMasterIdLst>
  <p:sldIdLst>
    <p:sldId xmlns:r="http://schemas.openxmlformats.org/officeDocument/2006/relationships" id="256" r:id="R8a82a3344fe64a50"/>
    <p:sldId xmlns:r="http://schemas.openxmlformats.org/officeDocument/2006/relationships" id="257" r:id="R7de5b0e6f6884244"/>
    <p:sldId xmlns:r="http://schemas.openxmlformats.org/officeDocument/2006/relationships" id="258" r:id="R9480ca456d5b4042"/>
    <p:sldId xmlns:r="http://schemas.openxmlformats.org/officeDocument/2006/relationships" id="259" r:id="Rd2e9104c498c4c95"/>
    <p:sldId xmlns:r="http://schemas.openxmlformats.org/officeDocument/2006/relationships" id="260" r:id="Rb1a622b7c8494a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e5dea2606f4f5b" /><Relationship Type="http://schemas.openxmlformats.org/officeDocument/2006/relationships/slideMaster" Target="/ppt/slideMasters/slideMaster1.xml" Id="R0d3158066c8544a1" /><Relationship Type="http://schemas.openxmlformats.org/officeDocument/2006/relationships/notesMaster" Target="/ppt/notesMasters/notesMaster1.xml" Id="R12340c109a474197" /><Relationship Type="http://schemas.openxmlformats.org/officeDocument/2006/relationships/presProps" Target="/ppt/presProps.xml" Id="Rfcace5a27f3a4706" /><Relationship Type="http://schemas.openxmlformats.org/officeDocument/2006/relationships/tableStyles" Target="/ppt/tableStyles.xml" Id="Rf21f56dfa0c54ef7" /><Relationship Type="http://schemas.openxmlformats.org/officeDocument/2006/relationships/slide" Target="/ppt/slides/slide1.xml" Id="R8a82a3344fe64a50" /><Relationship Type="http://schemas.openxmlformats.org/officeDocument/2006/relationships/slide" Target="/ppt/slides/slide2.xml" Id="R7de5b0e6f6884244" /><Relationship Type="http://schemas.openxmlformats.org/officeDocument/2006/relationships/slide" Target="/ppt/slides/slide3.xml" Id="R9480ca456d5b4042" /><Relationship Type="http://schemas.openxmlformats.org/officeDocument/2006/relationships/slide" Target="/ppt/slides/slide4.xml" Id="Rd2e9104c498c4c95" /><Relationship Type="http://schemas.openxmlformats.org/officeDocument/2006/relationships/slide" Target="/ppt/slides/slide5.xml" Id="Rb1a622b7c849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c1d1d9f3f94b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183cdb60374212" /><Relationship Type="http://schemas.openxmlformats.org/officeDocument/2006/relationships/notesMaster" Target="/ppt/notesMasters/notesMaster1.xml" Id="R9d43d252b42e48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3e2f2a9d7e4392" /><Relationship Type="http://schemas.openxmlformats.org/officeDocument/2006/relationships/notesMaster" Target="/ppt/notesMasters/notesMaster1.xml" Id="R4a0890df296a42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43711701ae4376" /><Relationship Type="http://schemas.openxmlformats.org/officeDocument/2006/relationships/notesMaster" Target="/ppt/notesMasters/notesMaster1.xml" Id="R1dda4dbb94c144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a98dd5641a4a55" /><Relationship Type="http://schemas.openxmlformats.org/officeDocument/2006/relationships/notesMaster" Target="/ppt/notesMasters/notesMaster1.xml" Id="R87e299ca6f184f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453cd0d94f4b1f" /><Relationship Type="http://schemas.openxmlformats.org/officeDocument/2006/relationships/notesMaster" Target="/ppt/notesMasters/notesMaster1.xml" Id="R7c48feeb62644d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ff2c9c1d64e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2682de20844908" /><Relationship Type="http://schemas.openxmlformats.org/officeDocument/2006/relationships/slideLayout" Target="/ppt/slideLayouts/slideLayout1.xml" Id="R46e865cad2274e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e865cad2274e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4e7a0bfcf4501" /><Relationship Type="http://schemas.openxmlformats.org/officeDocument/2006/relationships/notesSlide" Target="/ppt/notesSlides/notesSlide1.xml" Id="Rd7b88003c21b4c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de314fe7e4baf" /><Relationship Type="http://schemas.openxmlformats.org/officeDocument/2006/relationships/notesSlide" Target="/ppt/notesSlides/notesSlide2.xml" Id="R5150a1df334c4b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fc1cc456d4f76" /><Relationship Type="http://schemas.openxmlformats.org/officeDocument/2006/relationships/image" Target="/ppt/media/image.png" Id="R66ddc0ee26e643cb" /><Relationship Type="http://schemas.openxmlformats.org/officeDocument/2006/relationships/notesSlide" Target="/ppt/notesSlides/notesSlide3.xml" Id="R1b6b4c4a75564f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0d2b8064b4613" /><Relationship Type="http://schemas.openxmlformats.org/officeDocument/2006/relationships/image" Target="/ppt/media/image2.png" Id="R1040ee6f02504de5" /><Relationship Type="http://schemas.openxmlformats.org/officeDocument/2006/relationships/image" Target="/ppt/media/image3.png" Id="R22c7b743a22a45cf" /><Relationship Type="http://schemas.openxmlformats.org/officeDocument/2006/relationships/notesSlide" Target="/ppt/notesSlides/notesSlide4.xml" Id="R67413033574047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18d1144ae4da0" /><Relationship Type="http://schemas.openxmlformats.org/officeDocument/2006/relationships/image" Target="/ppt/media/image4.png" Id="R41787b22207c4e7b" /><Relationship Type="http://schemas.openxmlformats.org/officeDocument/2006/relationships/notesSlide" Target="/ppt/notesSlides/notesSlide5.xml" Id="Rb01273573f364a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85CCD-8B6B-4BBF-925B-DBC53A4D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 Screening District Capacity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9A948-BBA4-47E3-9EE7-A9C88DC1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7E9F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7E9F7"/>
                </a:solidFill>
                <a:latin typeface="Aptos"/>
                <a:ea typeface="Aptos"/>
                <a:cs typeface="Aptos"/>
              </a:rPr>
              <a:t>SimEvents operational capacity model for rural screening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A639B-DB2D-49A9-9EC5-D0D7973A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D8E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D8EE"/>
                </a:solidFill>
                <a:latin typeface="Aptos"/>
                <a:ea typeface="Aptos"/>
                <a:cs typeface="Aptos"/>
              </a:rPr>
              <a:t>SIH 2026 demo package</a:t>
            </a:r>
          </a:p>
        </p:txBody>
      </p:sp>
    </p:spTree>
    <p:extLst>
      <p:ext uri="{BB962C8B-B14F-4D97-AF65-F5344CB8AC3E}">
        <p14:creationId xmlns:p14="http://schemas.microsoft.com/office/powerpoint/2010/main" val="1521517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AEF2E1-27E6-4E35-B220-215E7247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Operational model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CD81E-1B5A-45BB-9FD3-5D2F020F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D293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939"/>
                </a:solidFill>
                <a:latin typeface="Aptos"/>
                <a:ea typeface="Aptos"/>
                <a:cs typeface="Aptos"/>
              </a:rPr>
              <a:t>Patient flow models capture, quality recapture, AI routing, review capacity, and deferred image sync.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E7C4C-8C72-4351-8D13-1A588D63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Clinical performance remains external telemetry. The model evaluates operational queues and capacity only.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56938-9228-4200-B531-87DD82D0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1877B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Patient arrivals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C500F-B080-46E9-B196-4D9653C2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9557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877B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55E1B-8D5D-4CE3-93E2-1BC63B23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33362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1877B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Camera queue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F59A0-AACA-49AB-8A31-DC00E500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9557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877B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6CBD3-4AF5-473C-BDF7-CF6FA24C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3362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1877B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Quality recapture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3EEE5-BB80-41FD-8516-44F8F80E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69557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877B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1D96A-41B3-4F5F-95A3-F16BCC64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3362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1877B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AI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18936-7D97-432F-9FC3-0872D86F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9557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877B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02D03-6782-41FD-8656-9BBE6F56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1877B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Review / auto-clear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088F7-795B-48F4-BE63-CC4EA5B6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1877B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Processed image copy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0234C-52BE-453C-9815-CC33C2F4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50532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877B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6F25C-989F-44A8-8B0F-1D583903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14337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1877B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Local sync 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F65D1-92E4-4FA7-A34F-B6D36C2D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0532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877B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06F47-3683-4C9A-B288-8A139E05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4337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1877B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Connectivity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1BD93-4509-4893-AA51-EB72694D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50532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877B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068E0-99F8-43E0-A869-F12C995A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14337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1877B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Bandwidth server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5FDE7-9524-49F5-9C62-45B81FEE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0532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877B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D4975-B2CE-4881-8694-97C49A87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4337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9525">
            <a:solidFill>
              <a:srgbClr val="1877B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District server</a:t>
            </a:r>
          </a:p>
        </p:txBody>
      </p:sp>
    </p:spTree>
    <p:extLst>
      <p:ext uri="{BB962C8B-B14F-4D97-AF65-F5344CB8AC3E}">
        <p14:creationId xmlns:p14="http://schemas.microsoft.com/office/powerpoint/2010/main" val="1900066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96C69-DE4F-4C87-A5E8-34DE09F9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Current simulation summary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dc0ee26e643cb"/>
          <a:stretch xmlns:a="http://schemas.openxmlformats.org/drawingml/2006/main"/>
        </p:blipFill>
        <p:spPr>
          <a:xfrm xmlns:a="http://schemas.openxmlformats.org/drawingml/2006/main">
            <a:off x="3088052" y="1095375"/>
            <a:ext cx="6015896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39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F4BCA-5913-43EC-B446-0693978B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Confidence and quality scenarios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0ee6f02504de5"/>
          <a:stretch xmlns:a="http://schemas.openxmlformats.org/drawingml/2006/main"/>
        </p:blipFill>
        <p:spPr>
          <a:xfrm xmlns:a="http://schemas.openxmlformats.org/drawingml/2006/main">
            <a:off x="523875" y="1428797"/>
            <a:ext cx="5334000" cy="4286156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7b743a22a45cf"/>
          <a:stretch xmlns:a="http://schemas.openxmlformats.org/drawingml/2006/main"/>
        </p:blipFill>
        <p:spPr>
          <a:xfrm xmlns:a="http://schemas.openxmlformats.org/drawingml/2006/main">
            <a:off x="6191250" y="1218167"/>
            <a:ext cx="5334000" cy="470741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F0D88-FB4D-43C5-8B78-F5A2D45E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Higher routing threshold increases simulated referral volume. Higher rejection raises camera attempts.</a:t>
            </a:r>
          </a:p>
        </p:txBody>
      </p:sp>
    </p:spTree>
    <p:extLst>
      <p:ext uri="{BB962C8B-B14F-4D97-AF65-F5344CB8AC3E}">
        <p14:creationId xmlns:p14="http://schemas.microsoft.com/office/powerpoint/2010/main" val="316655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B841C-5477-4F61-B3D6-6C0184C5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Bandwidth and minimum configuration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87b22207c4e7b"/>
          <a:stretch xmlns:a="http://schemas.openxmlformats.org/drawingml/2006/main"/>
        </p:blipFill>
        <p:spPr>
          <a:xfrm xmlns:a="http://schemas.openxmlformats.org/drawingml/2006/main">
            <a:off x="609600" y="1238343"/>
            <a:ext cx="5334000" cy="438131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26C66-E975-4D0E-9548-1DE7AC1E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99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Minimum feasible configuration under current illustrative assumptions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A4C3D-E84C-4CDD-A15B-A5DE6CD9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3810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D293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D2939"/>
                </a:solidFill>
                <a:latin typeface="Aptos"/>
                <a:ea typeface="Aptos"/>
                <a:cs typeface="Aptos"/>
              </a:rPr>
              <a:t>1 camera</a:t>
            </a:r>
          </a:p>
          <a:p xmlns:a="http://schemas.openxmlformats.org/drawingml/2006/main">
            <a:pPr>
              <a:defRPr sz="2025" b="0">
                <a:solidFill>
                  <a:srgbClr val="1D293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D2939"/>
                </a:solidFill>
                <a:latin typeface="Aptos"/>
                <a:ea typeface="Aptos"/>
                <a:cs typeface="Aptos"/>
              </a:rPr>
              <a:t>1 ophthalmologist</a:t>
            </a:r>
          </a:p>
          <a:p xmlns:a="http://schemas.openxmlformats.org/drawingml/2006/main">
            <a:pPr>
              <a:defRPr sz="2025" b="0">
                <a:solidFill>
                  <a:srgbClr val="1D293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D2939"/>
                </a:solidFill>
                <a:latin typeface="Aptos"/>
                <a:ea typeface="Aptos"/>
                <a:cs typeface="Aptos"/>
              </a:rPr>
              <a:t>5 Mbps bandwidth</a:t>
            </a:r>
          </a:p>
          <a:p xmlns:a="http://schemas.openxmlformats.org/drawingml/2006/main">
            <a:pPr>
              <a:defRPr sz="2025" b="0">
                <a:solidFill>
                  <a:srgbClr val="1D293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D2939"/>
                </a:solidFill>
                <a:latin typeface="Aptos"/>
                <a:ea typeface="Aptos"/>
                <a:cs typeface="Aptos"/>
              </a:rPr>
              <a:t>399 patients per camp</a:t>
            </a:r>
          </a:p>
          <a:p xmlns:a="http://schemas.openxmlformats.org/drawingml/2006/main">
            <a:pPr>
              <a:defRPr sz="2025" b="0">
                <a:solidFill>
                  <a:srgbClr val="1D293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D2939"/>
                </a:solidFill>
                <a:latin typeface="Aptos"/>
                <a:ea typeface="Aptos"/>
                <a:cs typeface="Aptos"/>
              </a:rPr>
              <a:t>0 end-of-camp sync backlog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AAE88-327B-413E-8611-D27BDD51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Replace config.m placeholders with measured field telemetry before making deployment claims.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EDBF1-2268-4168-8A0D-7E14B7D5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77B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77B9"/>
                </a:solidFill>
                <a:latin typeface="Aptos"/>
                <a:ea typeface="Aptos"/>
                <a:cs typeface="Aptos"/>
              </a:rPr>
              <a:t>Demo: AI-OFF vs AI-ON, quality rejection, low bandwidth, restored connectivity, then resource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1511162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2026-09-08T08:16:14.4120000Z</dcterms:created>
  <dcterms:modified xsi:type="dcterms:W3CDTF">2026-09-08T08:16:14.4130000Z</dcterms:modified>
</coreProperties>
</file>